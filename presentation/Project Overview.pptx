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39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1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1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3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0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6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0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4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95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8002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45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24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52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50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2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25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406" y="2346960"/>
            <a:ext cx="7765322" cy="97045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00B0F0"/>
                </a:solidFill>
              </a:rPr>
              <a:t>E-Commerce Data Analysis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product performance</a:t>
            </a:r>
          </a:p>
          <a:p>
            <a:r>
              <a:rPr dirty="0"/>
              <a:t>Customer churn &amp; segmentation</a:t>
            </a:r>
          </a:p>
          <a:p>
            <a:r>
              <a:rPr dirty="0"/>
              <a:t>Seller performance</a:t>
            </a:r>
          </a:p>
          <a:p>
            <a:r>
              <a:rPr dirty="0"/>
              <a:t>Delivery delay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Source: </a:t>
            </a:r>
            <a:r>
              <a:rPr lang="en-US" dirty="0"/>
              <a:t>Kaggle</a:t>
            </a:r>
            <a:endParaRPr dirty="0"/>
          </a:p>
          <a:p>
            <a:r>
              <a:rPr b="1" dirty="0"/>
              <a:t>Tables: </a:t>
            </a:r>
            <a:r>
              <a:rPr dirty="0"/>
              <a:t>Orders, Customers, Products, Sellers</a:t>
            </a:r>
            <a:r>
              <a:rPr lang="en-US" dirty="0"/>
              <a:t>, reviews</a:t>
            </a:r>
            <a:endParaRPr dirty="0"/>
          </a:p>
          <a:p>
            <a:r>
              <a:rPr b="1" dirty="0"/>
              <a:t>Key columns used</a:t>
            </a:r>
            <a:r>
              <a:rPr lang="en-US" b="1" dirty="0"/>
              <a:t>: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customer_state</a:t>
            </a:r>
            <a:r>
              <a:rPr lang="en-US" dirty="0"/>
              <a:t>, </a:t>
            </a: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order_purchase_timestamp</a:t>
            </a:r>
            <a:r>
              <a:rPr lang="en-US" dirty="0"/>
              <a:t>, </a:t>
            </a:r>
            <a:r>
              <a:rPr lang="en-US" dirty="0" err="1"/>
              <a:t>order_delivered_customer_date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seller_id</a:t>
            </a:r>
            <a:r>
              <a:rPr lang="en-US" dirty="0"/>
              <a:t>, price, </a:t>
            </a:r>
            <a:r>
              <a:rPr lang="en-US" dirty="0" err="1"/>
              <a:t>freight_value</a:t>
            </a:r>
            <a:r>
              <a:rPr lang="en-US" dirty="0"/>
              <a:t>, </a:t>
            </a:r>
            <a:r>
              <a:rPr lang="en-US" dirty="0" err="1"/>
              <a:t>payment_type</a:t>
            </a:r>
            <a:r>
              <a:rPr lang="en-US" dirty="0"/>
              <a:t>, review _score, </a:t>
            </a:r>
            <a:r>
              <a:rPr lang="en-US" dirty="0" err="1"/>
              <a:t>product_category_name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</a:t>
            </a:r>
          </a:p>
          <a:p>
            <a:r>
              <a:rPr dirty="0"/>
              <a:t>Excel / Python</a:t>
            </a:r>
          </a:p>
          <a:p>
            <a:r>
              <a:rPr dirty="0"/>
              <a:t>Data cleaning &amp;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</a:t>
            </a:r>
          </a:p>
          <a:p>
            <a:r>
              <a:t>Total Orders</a:t>
            </a:r>
          </a:p>
          <a:p>
            <a:r>
              <a:t>Total Customers</a:t>
            </a:r>
          </a:p>
          <a:p>
            <a:r>
              <a:t>Churn Rate</a:t>
            </a:r>
          </a:p>
          <a:p>
            <a:r>
              <a:t>Avg Delivery Time</a:t>
            </a:r>
          </a:p>
          <a:p>
            <a:r>
              <a:t>Avg Review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26" y="350520"/>
            <a:ext cx="7765322" cy="97045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Product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" y="1338920"/>
            <a:ext cx="4183380" cy="5201750"/>
          </a:xfrm>
        </p:spPr>
        <p:txBody>
          <a:bodyPr>
            <a:normAutofit/>
          </a:bodyPr>
          <a:lstStyle/>
          <a:p>
            <a:r>
              <a:rPr lang="en-US" sz="1200" b="1" dirty="0">
                <a:solidFill>
                  <a:srgbClr val="00B0F0"/>
                </a:solidFill>
              </a:rPr>
              <a:t>Top Performing Product Categories</a:t>
            </a:r>
            <a:br>
              <a:rPr lang="en-US" sz="1200" dirty="0"/>
            </a:br>
            <a:r>
              <a:rPr lang="en-US" sz="1200" dirty="0"/>
              <a:t>The analysis identifies the following categories as the highest contributors in terms of sales volume:</a:t>
            </a:r>
          </a:p>
          <a:p>
            <a:r>
              <a:rPr lang="en-US" sz="1200" b="1" dirty="0" err="1"/>
              <a:t>cama_mesa_banho</a:t>
            </a:r>
            <a:r>
              <a:rPr lang="en-US" sz="1200" b="1" dirty="0"/>
              <a:t> (11,847 units)</a:t>
            </a:r>
            <a:r>
              <a:rPr lang="en-US" sz="1200" dirty="0"/>
              <a:t> – </a:t>
            </a:r>
            <a:r>
              <a:rPr lang="en-US" sz="1200" i="1" dirty="0"/>
              <a:t>Bed, Bath &amp; Table</a:t>
            </a:r>
            <a:endParaRPr lang="en-US" sz="1200" dirty="0"/>
          </a:p>
          <a:p>
            <a:r>
              <a:rPr lang="en-US" sz="1200" b="1" dirty="0" err="1"/>
              <a:t>beleza_saude</a:t>
            </a:r>
            <a:r>
              <a:rPr lang="en-US" sz="1200" b="1" dirty="0"/>
              <a:t> (9,944 units)</a:t>
            </a:r>
            <a:r>
              <a:rPr lang="en-US" sz="1200" dirty="0"/>
              <a:t> – </a:t>
            </a:r>
            <a:r>
              <a:rPr lang="en-US" sz="1200" i="1" dirty="0"/>
              <a:t>Beauty &amp; Health</a:t>
            </a:r>
            <a:endParaRPr lang="en-US" sz="1200" dirty="0"/>
          </a:p>
          <a:p>
            <a:r>
              <a:rPr lang="en-US" sz="1200" b="1" dirty="0" err="1"/>
              <a:t>esporte_lazer</a:t>
            </a:r>
            <a:r>
              <a:rPr lang="en-US" sz="1200" b="1" dirty="0"/>
              <a:t> (8,942 units)</a:t>
            </a:r>
            <a:r>
              <a:rPr lang="en-US" sz="1200" dirty="0"/>
              <a:t> – </a:t>
            </a:r>
            <a:r>
              <a:rPr lang="en-US" sz="1200" i="1" dirty="0"/>
              <a:t>Sports &amp; Leisure</a:t>
            </a:r>
            <a:endParaRPr lang="en-US" sz="1200" dirty="0"/>
          </a:p>
          <a:p>
            <a:r>
              <a:rPr lang="en-US" sz="1200" b="1" dirty="0" err="1"/>
              <a:t>moveis_decoracao</a:t>
            </a:r>
            <a:r>
              <a:rPr lang="en-US" sz="1200" b="1" dirty="0"/>
              <a:t> (8,942 units)</a:t>
            </a:r>
            <a:r>
              <a:rPr lang="en-US" sz="1200" dirty="0"/>
              <a:t> – </a:t>
            </a:r>
            <a:r>
              <a:rPr lang="en-US" sz="1200" i="1" dirty="0"/>
              <a:t>Furniture &amp; Decoration</a:t>
            </a:r>
            <a:endParaRPr lang="en-US" sz="1200" dirty="0"/>
          </a:p>
          <a:p>
            <a:r>
              <a:rPr lang="en-US" sz="1200" b="1" dirty="0" err="1"/>
              <a:t>informatica_acessorios</a:t>
            </a:r>
            <a:r>
              <a:rPr lang="en-US" sz="1200" b="1" dirty="0"/>
              <a:t> (8,150 units)</a:t>
            </a:r>
            <a:r>
              <a:rPr lang="en-US" sz="1200" dirty="0"/>
              <a:t> – </a:t>
            </a:r>
            <a:r>
              <a:rPr lang="en-US" sz="1200" i="1" dirty="0"/>
              <a:t>IT / Computer Accessories</a:t>
            </a:r>
            <a:endParaRPr lang="en-US" sz="1200" dirty="0"/>
          </a:p>
          <a:p>
            <a:r>
              <a:rPr lang="en-US" sz="1200" dirty="0"/>
              <a:t>These categories represent the core demand drivers and play a significant role in overall business performance.</a:t>
            </a:r>
          </a:p>
          <a:p>
            <a:r>
              <a:rPr lang="en-US" sz="1200" b="1" dirty="0">
                <a:solidFill>
                  <a:srgbClr val="00B0F0"/>
                </a:solidFill>
              </a:rPr>
              <a:t>Least Performing Product Categories</a:t>
            </a:r>
            <a:br>
              <a:rPr lang="en-US" sz="1200" dirty="0"/>
            </a:br>
            <a:r>
              <a:rPr lang="en-US" sz="1200" dirty="0"/>
              <a:t>The following categories have minimal sales and limited impact on overall performance:</a:t>
            </a:r>
          </a:p>
          <a:p>
            <a:r>
              <a:rPr lang="en-US" sz="1200" b="1" dirty="0" err="1"/>
              <a:t>seguros_e_servicos</a:t>
            </a:r>
            <a:r>
              <a:rPr lang="en-US" sz="1200" b="1" dirty="0"/>
              <a:t> (2 units)</a:t>
            </a:r>
            <a:r>
              <a:rPr lang="en-US" sz="1200" dirty="0"/>
              <a:t> – </a:t>
            </a:r>
            <a:r>
              <a:rPr lang="en-US" sz="1200" i="1" dirty="0"/>
              <a:t>Insurance &amp; Services</a:t>
            </a:r>
            <a:endParaRPr lang="en-US" sz="1200" dirty="0"/>
          </a:p>
          <a:p>
            <a:r>
              <a:rPr lang="en-US" sz="1200" b="1" dirty="0" err="1"/>
              <a:t>portateis_cozinha_e_preparadores_de_alimentos</a:t>
            </a:r>
            <a:r>
              <a:rPr lang="en-US" sz="1200" b="1" dirty="0"/>
              <a:t> (3 units)</a:t>
            </a:r>
            <a:r>
              <a:rPr lang="en-US" sz="1200" dirty="0"/>
              <a:t> – </a:t>
            </a:r>
            <a:r>
              <a:rPr lang="en-US" sz="1200" i="1" dirty="0"/>
              <a:t>Portable Kitchen &amp; Food Preparers</a:t>
            </a:r>
            <a:endParaRPr lang="en-US" sz="1200" dirty="0"/>
          </a:p>
          <a:p>
            <a:r>
              <a:rPr lang="en-US" sz="1200" b="1" dirty="0" err="1"/>
              <a:t>artes_e_artesanato</a:t>
            </a:r>
            <a:r>
              <a:rPr lang="en-US" sz="1200" b="1" dirty="0"/>
              <a:t> (6 units)</a:t>
            </a:r>
            <a:r>
              <a:rPr lang="en-US" sz="1200" dirty="0"/>
              <a:t> – </a:t>
            </a:r>
            <a:r>
              <a:rPr lang="en-US" sz="1200" i="1" dirty="0"/>
              <a:t>Arts &amp; Crafts</a:t>
            </a:r>
            <a:endParaRPr lang="en-US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352411-D2C2-A223-1EB0-DEA3BACEF2BD}"/>
              </a:ext>
            </a:extLst>
          </p:cNvPr>
          <p:cNvSpPr txBox="1">
            <a:spLocks/>
          </p:cNvSpPr>
          <p:nvPr/>
        </p:nvSpPr>
        <p:spPr>
          <a:xfrm>
            <a:off x="4427308" y="1341630"/>
            <a:ext cx="4183380" cy="5201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Due to their low volume, these categories can be grouped under “Others” for more meaningful analysis.</a:t>
            </a:r>
          </a:p>
          <a:p>
            <a:r>
              <a:rPr lang="en-US" sz="1200" b="1" dirty="0">
                <a:solidFill>
                  <a:srgbClr val="00B0F0"/>
                </a:solidFill>
              </a:rPr>
              <a:t>Revenue Contribution</a:t>
            </a:r>
            <a:br>
              <a:rPr lang="en-US" sz="1200" dirty="0"/>
            </a:br>
            <a:r>
              <a:rPr lang="en-US" sz="1200" dirty="0"/>
              <a:t>The top 5 product categories contribute approximately </a:t>
            </a:r>
            <a:r>
              <a:rPr lang="en-US" sz="1200" b="1" dirty="0"/>
              <a:t>40% of the total revenue</a:t>
            </a:r>
            <a:r>
              <a:rPr lang="en-US" sz="1200" dirty="0"/>
              <a:t>, amounting to nearly </a:t>
            </a:r>
            <a:r>
              <a:rPr lang="en-US" sz="1200" b="1" dirty="0"/>
              <a:t>6.44 million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This indicates a strong concentration of revenue within a limited number of categories.</a:t>
            </a:r>
          </a:p>
          <a:p>
            <a:r>
              <a:rPr lang="en-US" sz="1200" b="1" dirty="0">
                <a:solidFill>
                  <a:srgbClr val="00B0F0"/>
                </a:solidFill>
              </a:rPr>
              <a:t>Payment Behavior Insights</a:t>
            </a:r>
            <a:br>
              <a:rPr lang="en-US" sz="1200" dirty="0"/>
            </a:br>
            <a:r>
              <a:rPr lang="en-US" sz="1200" dirty="0"/>
              <a:t>Credit cards are the most preferred payment method among customers.</a:t>
            </a:r>
            <a:br>
              <a:rPr lang="en-US" sz="1200" dirty="0"/>
            </a:br>
            <a:r>
              <a:rPr lang="en-US" sz="1200" dirty="0"/>
              <a:t>This is largely driven by the availability of installment-based payments, with customers opting for an average of </a:t>
            </a:r>
            <a:r>
              <a:rPr lang="en-US" sz="1200" b="1" dirty="0"/>
              <a:t>3 installments per transaction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3886654" cy="4851230"/>
          </a:xfrm>
        </p:spPr>
        <p:txBody>
          <a:bodyPr>
            <a:normAutofit/>
          </a:bodyPr>
          <a:lstStyle/>
          <a:p>
            <a:r>
              <a:rPr lang="en-US" sz="1200" b="1" dirty="0"/>
              <a:t>Churn Definition: </a:t>
            </a:r>
            <a:r>
              <a:rPr lang="en-US" sz="1200" dirty="0"/>
              <a:t>Customers who have </a:t>
            </a:r>
            <a:r>
              <a:rPr lang="en-US" sz="1200" b="1" dirty="0"/>
              <a:t>stopped purchasing or become inactive</a:t>
            </a:r>
            <a:r>
              <a:rPr lang="en-US" sz="1200" dirty="0"/>
              <a:t> over a specific period.</a:t>
            </a:r>
          </a:p>
          <a:p>
            <a:r>
              <a:rPr lang="en-US" sz="1200" b="1" dirty="0"/>
              <a:t>Churn Rate: </a:t>
            </a:r>
            <a:r>
              <a:rPr lang="en-US" sz="1200" dirty="0"/>
              <a:t>The </a:t>
            </a:r>
            <a:r>
              <a:rPr lang="en-US" sz="1200" b="1" dirty="0"/>
              <a:t>percentage of customers who stopped doing business</a:t>
            </a:r>
            <a:r>
              <a:rPr lang="en-US" sz="1200" dirty="0"/>
              <a:t> with the company during a given time period.</a:t>
            </a:r>
            <a:endParaRPr lang="en-US" sz="1200" b="1" dirty="0"/>
          </a:p>
          <a:p>
            <a:r>
              <a:rPr lang="en-US" sz="1200" b="1" dirty="0"/>
              <a:t>Churn Customers</a:t>
            </a:r>
            <a:r>
              <a:rPr lang="en-US" sz="1200" dirty="0"/>
              <a:t>: Customers who left or became inactive </a:t>
            </a:r>
          </a:p>
          <a:p>
            <a:r>
              <a:rPr lang="en-US" sz="1200" b="1" dirty="0"/>
              <a:t>Non-Churn Customers</a:t>
            </a:r>
            <a:r>
              <a:rPr lang="en-US" sz="1200" dirty="0"/>
              <a:t>: Active customers who continue to purchase</a:t>
            </a:r>
          </a:p>
          <a:p>
            <a:r>
              <a:rPr lang="en-US" sz="1600" b="1" dirty="0">
                <a:solidFill>
                  <a:srgbClr val="00B0F0"/>
                </a:solidFill>
              </a:rPr>
              <a:t>Key insights</a:t>
            </a:r>
          </a:p>
          <a:p>
            <a:r>
              <a:rPr lang="en-US" sz="1200" b="1" dirty="0"/>
              <a:t>Customer Purchase Frequency</a:t>
            </a:r>
            <a:br>
              <a:rPr lang="en-US" sz="1200" dirty="0"/>
            </a:br>
            <a:r>
              <a:rPr lang="en-US" sz="1200" dirty="0"/>
              <a:t>Out of a total of approximately </a:t>
            </a:r>
            <a:r>
              <a:rPr lang="en-US" sz="1200" b="1" dirty="0"/>
              <a:t>97,000 customers</a:t>
            </a:r>
            <a:r>
              <a:rPr lang="en-US" sz="1200" dirty="0"/>
              <a:t>, nearly </a:t>
            </a:r>
            <a:r>
              <a:rPr lang="en-US" sz="1200" b="1" dirty="0"/>
              <a:t>91,000 customers have made only a single purchase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This indicates a very high proportion of one-time buyers, highlighting challenges in customer retention and repeat engagement.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9FF687-2B64-BD56-656E-1AC5817F30CC}"/>
              </a:ext>
            </a:extLst>
          </p:cNvPr>
          <p:cNvSpPr txBox="1">
            <a:spLocks/>
          </p:cNvSpPr>
          <p:nvPr/>
        </p:nvSpPr>
        <p:spPr>
          <a:xfrm>
            <a:off x="4564014" y="1732449"/>
            <a:ext cx="3886654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Impact of Delivery Experience on Churn</a:t>
            </a:r>
            <a:br>
              <a:rPr lang="en-US" sz="1200" dirty="0"/>
            </a:br>
            <a:r>
              <a:rPr lang="en-US" sz="1200" dirty="0"/>
              <a:t>Customers who experience </a:t>
            </a:r>
            <a:r>
              <a:rPr lang="en-US" sz="1200" b="1" dirty="0"/>
              <a:t>delayed deliveries are significantly more likely to churn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This reinforces the importance of timely order fulfillment in maintaining customer loyalty and reducing attrition.</a:t>
            </a:r>
          </a:p>
          <a:p>
            <a:r>
              <a:rPr lang="en-US" sz="1200" b="1" dirty="0"/>
              <a:t>Year-wise Churn Trends</a:t>
            </a:r>
            <a:endParaRPr lang="en-US" sz="1200" dirty="0"/>
          </a:p>
          <a:p>
            <a:r>
              <a:rPr lang="en-US" sz="1200" dirty="0"/>
              <a:t>In </a:t>
            </a:r>
            <a:r>
              <a:rPr lang="en-US" sz="1200" b="1" dirty="0"/>
              <a:t>2016 and 2017</a:t>
            </a:r>
            <a:r>
              <a:rPr lang="en-US" sz="1200" dirty="0"/>
              <a:t>, the churn rate was extremely high at around </a:t>
            </a:r>
            <a:r>
              <a:rPr lang="en-US" sz="1200" b="1" dirty="0"/>
              <a:t>98%</a:t>
            </a:r>
            <a:r>
              <a:rPr lang="en-US" sz="1200" dirty="0"/>
              <a:t>, indicating very low customer retention during the early years.</a:t>
            </a:r>
          </a:p>
          <a:p>
            <a:r>
              <a:rPr lang="en-US" sz="1200" dirty="0"/>
              <a:t>In </a:t>
            </a:r>
            <a:r>
              <a:rPr lang="en-US" sz="1200" b="1" dirty="0"/>
              <a:t>2018</a:t>
            </a:r>
            <a:r>
              <a:rPr lang="en-US" sz="1200" dirty="0"/>
              <a:t>, the churn rate </a:t>
            </a:r>
            <a:r>
              <a:rPr lang="en-US" sz="1200" b="1" dirty="0"/>
              <a:t>dropped significantly to approximately 27%</a:t>
            </a:r>
            <a:r>
              <a:rPr lang="en-US" sz="1200" dirty="0"/>
              <a:t>, suggesting notable improvements in customer retention strategies and overall service performance.</a:t>
            </a:r>
          </a:p>
          <a:p>
            <a:endParaRPr lang="en-US" sz="1200" dirty="0"/>
          </a:p>
          <a:p>
            <a:pPr marL="3690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35280"/>
            <a:ext cx="7765322" cy="97045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b="1" dirty="0"/>
              <a:t>High Potential Customers: </a:t>
            </a:r>
            <a:r>
              <a:rPr lang="en-US" sz="1600" dirty="0"/>
              <a:t>Purchased recently, only one purchase so far, high spend per order.</a:t>
            </a:r>
          </a:p>
          <a:p>
            <a:pPr marL="36900" indent="0">
              <a:buNone/>
            </a:pPr>
            <a:r>
              <a:rPr lang="en-US" sz="1600" dirty="0"/>
              <a:t>Action: Onboarding emails, First repeat purchase discounts, Product recommendations</a:t>
            </a:r>
          </a:p>
          <a:p>
            <a:r>
              <a:rPr lang="en-US" sz="1600" b="1" dirty="0"/>
              <a:t>Low Value Customers: </a:t>
            </a:r>
            <a:r>
              <a:rPr lang="en-US" sz="1600" dirty="0"/>
              <a:t>Purchased relatively recently, single purchase, very low spend (use low cost marketing, do not overspend on retention. </a:t>
            </a:r>
          </a:p>
          <a:p>
            <a:pPr marL="36900" indent="0">
              <a:buNone/>
            </a:pPr>
            <a:r>
              <a:rPr lang="en-US" sz="1600" dirty="0"/>
              <a:t>Action: Low-cost marketing, Do not overspend on retention</a:t>
            </a:r>
          </a:p>
          <a:p>
            <a:r>
              <a:rPr lang="en-US" sz="1600" b="1" dirty="0"/>
              <a:t>High Value: </a:t>
            </a:r>
            <a:r>
              <a:rPr lang="en-US" sz="1600" dirty="0"/>
              <a:t>Buy more than once on an average, high spending (loyal customers, repeat buyers). </a:t>
            </a:r>
          </a:p>
          <a:p>
            <a:pPr marL="36900" indent="0">
              <a:buNone/>
            </a:pPr>
            <a:r>
              <a:rPr lang="en-US" sz="1600" dirty="0"/>
              <a:t>Action: Exclusive discounts or cashback, reward points/membership tiers (Gold, Silver, Platinum).</a:t>
            </a:r>
          </a:p>
          <a:p>
            <a:r>
              <a:rPr lang="en-US" sz="1600" b="1" dirty="0"/>
              <a:t>At Risk: </a:t>
            </a:r>
            <a:r>
              <a:rPr lang="en-US" sz="1600" dirty="0"/>
              <a:t>Long time since last purchase, bought only once, medium-low spending (inactive customers) </a:t>
            </a:r>
          </a:p>
          <a:p>
            <a:pPr marL="36900" indent="0">
              <a:buNone/>
            </a:pPr>
            <a:r>
              <a:rPr lang="en-US" sz="1600" dirty="0"/>
              <a:t>Action: Re-engagement campaigns, Win-back offers, Reminder emails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47040"/>
            <a:ext cx="7765322" cy="97045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Seller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sellers</a:t>
            </a:r>
            <a:r>
              <a:rPr lang="en-US" dirty="0"/>
              <a:t>: </a:t>
            </a:r>
          </a:p>
          <a:p>
            <a:pPr marL="27675" indent="0">
              <a:buNone/>
            </a:pPr>
            <a:r>
              <a:rPr lang="en-US" dirty="0"/>
              <a:t>4a3ca9315b744ce9f8e9374361493884(2128), 6560211a19b47992c3666cc44a7e94c0(2111), 1f50f920176fa81dab994f9023523100(2009)</a:t>
            </a:r>
            <a:endParaRPr dirty="0"/>
          </a:p>
          <a:p>
            <a:r>
              <a:rPr dirty="0"/>
              <a:t>Rating vs sales</a:t>
            </a:r>
            <a:r>
              <a:rPr lang="en-US" dirty="0"/>
              <a:t>: </a:t>
            </a:r>
          </a:p>
          <a:p>
            <a:pPr marL="36900" indent="0">
              <a:buNone/>
            </a:pPr>
            <a:r>
              <a:rPr lang="en-US" dirty="0"/>
              <a:t>Average Seller rating is 4.08</a:t>
            </a:r>
            <a:endParaRPr dirty="0"/>
          </a:p>
          <a:p>
            <a:r>
              <a:rPr dirty="0"/>
              <a:t>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264160"/>
            <a:ext cx="7765322" cy="97045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Delivery Delay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07" y="1351280"/>
            <a:ext cx="4282439" cy="5242560"/>
          </a:xfrm>
        </p:spPr>
        <p:txBody>
          <a:bodyPr>
            <a:noAutofit/>
          </a:bodyPr>
          <a:lstStyle/>
          <a:p>
            <a:r>
              <a:rPr lang="en-US" sz="1200" b="1" dirty="0"/>
              <a:t>Average Delivery Time</a:t>
            </a:r>
            <a:br>
              <a:rPr lang="en-US" sz="1200" dirty="0"/>
            </a:br>
            <a:r>
              <a:rPr lang="en-US" sz="1200" dirty="0"/>
              <a:t>The overall average delivery time is approximately </a:t>
            </a:r>
            <a:r>
              <a:rPr lang="en-US" sz="1200" b="1" dirty="0"/>
              <a:t>12 days</a:t>
            </a:r>
            <a:r>
              <a:rPr lang="en-US" sz="1200" dirty="0"/>
              <a:t>, indicating the typical duration required for orders to reach customers.</a:t>
            </a:r>
          </a:p>
          <a:p>
            <a:r>
              <a:rPr lang="en-US" sz="1200" b="1" dirty="0"/>
              <a:t>On-Time vs Delayed Deliveries</a:t>
            </a:r>
            <a:br>
              <a:rPr lang="en-US" sz="1200" dirty="0"/>
            </a:br>
            <a:r>
              <a:rPr lang="en-US" sz="1200" dirty="0"/>
              <a:t>Approximately </a:t>
            </a:r>
            <a:r>
              <a:rPr lang="en-US" sz="1200" b="1" dirty="0"/>
              <a:t>8% of total deliveries are delayed</a:t>
            </a:r>
            <a:r>
              <a:rPr lang="en-US" sz="1200" dirty="0"/>
              <a:t>, while the majority of orders are delivered within the expected timeframe.</a:t>
            </a:r>
          </a:p>
          <a:p>
            <a:r>
              <a:rPr lang="en-US" sz="1200" b="1" dirty="0"/>
              <a:t>Impact on Customer Reviews</a:t>
            </a:r>
            <a:br>
              <a:rPr lang="en-US" sz="1200" dirty="0"/>
            </a:br>
            <a:r>
              <a:rPr lang="en-US" sz="1200" dirty="0"/>
              <a:t>Delivery timeliness has a significant influence on customer satisfaction:</a:t>
            </a:r>
          </a:p>
          <a:p>
            <a:r>
              <a:rPr lang="en-US" sz="1200" b="1" dirty="0"/>
              <a:t>Late deliveries</a:t>
            </a:r>
            <a:r>
              <a:rPr lang="en-US" sz="1200" dirty="0"/>
              <a:t> have an average review rating of </a:t>
            </a:r>
            <a:r>
              <a:rPr lang="en-US" sz="1200" b="1" dirty="0"/>
              <a:t>2.3</a:t>
            </a:r>
            <a:endParaRPr lang="en-US" sz="1200" dirty="0"/>
          </a:p>
          <a:p>
            <a:r>
              <a:rPr lang="en-US" sz="1200" b="1" dirty="0"/>
              <a:t>On-time deliveries</a:t>
            </a:r>
            <a:r>
              <a:rPr lang="en-US" sz="1200" dirty="0"/>
              <a:t> achieve a much higher average rating of </a:t>
            </a:r>
            <a:r>
              <a:rPr lang="en-US" sz="1200" b="1" dirty="0"/>
              <a:t>4.1</a:t>
            </a:r>
            <a:endParaRPr lang="en-US" sz="1200" dirty="0"/>
          </a:p>
          <a:p>
            <a:r>
              <a:rPr lang="en-US" sz="1200" dirty="0"/>
              <a:t>This highlights a strong negative impact of delays on customer perception.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4A3E01-A582-60C7-0B74-0C32376255AA}"/>
              </a:ext>
            </a:extLst>
          </p:cNvPr>
          <p:cNvSpPr txBox="1">
            <a:spLocks/>
          </p:cNvSpPr>
          <p:nvPr/>
        </p:nvSpPr>
        <p:spPr>
          <a:xfrm>
            <a:off x="4557846" y="1356190"/>
            <a:ext cx="4452621" cy="52425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Key Insights</a:t>
            </a:r>
            <a:endParaRPr lang="en-US" sz="1200" dirty="0"/>
          </a:p>
          <a:p>
            <a:r>
              <a:rPr lang="en-US" sz="1200" b="1" dirty="0"/>
              <a:t>Processing Delay as a Primary Driver</a:t>
            </a:r>
            <a:br>
              <a:rPr lang="en-US" sz="1200" dirty="0"/>
            </a:br>
            <a:r>
              <a:rPr lang="en-US" sz="1200" dirty="0"/>
              <a:t>Orders with delayed delivery experience a higher average processing time (</a:t>
            </a:r>
            <a:r>
              <a:rPr lang="en-US" sz="1200" b="1" dirty="0"/>
              <a:t>~6.5 days</a:t>
            </a:r>
            <a:r>
              <a:rPr lang="en-US" sz="1200" dirty="0"/>
              <a:t>) compared to on-time deliveries (</a:t>
            </a:r>
            <a:r>
              <a:rPr lang="en-US" sz="1200" b="1" dirty="0"/>
              <a:t>~3.8 days</a:t>
            </a:r>
            <a:r>
              <a:rPr lang="en-US" sz="1200" dirty="0"/>
              <a:t>), indicating that internal processing inefficiencies are a major contributor to delays.</a:t>
            </a:r>
          </a:p>
          <a:p>
            <a:r>
              <a:rPr lang="en-US" sz="1200" b="1" dirty="0"/>
              <a:t>Customer Satisfaction Impact</a:t>
            </a:r>
            <a:br>
              <a:rPr lang="en-US" sz="1200" dirty="0"/>
            </a:br>
            <a:r>
              <a:rPr lang="en-US" sz="1200" dirty="0"/>
              <a:t>Delivery delays significantly reduce product review scores, emphasizing the importance of timely fulfillment in maintaining positive customer experiences.</a:t>
            </a:r>
          </a:p>
          <a:p>
            <a:r>
              <a:rPr lang="en-US" sz="1200" b="1" dirty="0"/>
              <a:t>Churn Correlation</a:t>
            </a:r>
            <a:br>
              <a:rPr lang="en-US" sz="1200" dirty="0"/>
            </a:br>
            <a:r>
              <a:rPr lang="en-US" sz="1200" dirty="0"/>
              <a:t>Customers who experience delayed deliveries are more likely to churn.</a:t>
            </a:r>
          </a:p>
          <a:p>
            <a:pPr lvl="1"/>
            <a:r>
              <a:rPr lang="en-US" sz="1200" dirty="0"/>
              <a:t>Churned customers: average delivery time of </a:t>
            </a:r>
            <a:r>
              <a:rPr lang="en-US" sz="1200" b="1" dirty="0"/>
              <a:t>~13 days</a:t>
            </a:r>
            <a:endParaRPr lang="en-US" sz="1200" dirty="0"/>
          </a:p>
          <a:p>
            <a:pPr lvl="1"/>
            <a:r>
              <a:rPr lang="en-US" sz="1200" dirty="0"/>
              <a:t>Non-churned customers: average delivery time of </a:t>
            </a:r>
            <a:r>
              <a:rPr lang="en-US" sz="1200" b="1" dirty="0"/>
              <a:t>~10 days</a:t>
            </a:r>
            <a:endParaRPr lang="en-US" sz="1200" dirty="0"/>
          </a:p>
          <a:p>
            <a:r>
              <a:rPr lang="en-US" sz="1200" dirty="0"/>
              <a:t>This suggests that prolonged delivery times are strongly associated with customer attrition.</a:t>
            </a:r>
          </a:p>
          <a:p>
            <a:r>
              <a:rPr lang="en-US" sz="1200" b="1" dirty="0"/>
              <a:t>Conclusion</a:t>
            </a:r>
            <a:br>
              <a:rPr lang="en-US" sz="1200" dirty="0"/>
            </a:br>
            <a:r>
              <a:rPr lang="en-US" sz="1200" dirty="0"/>
              <a:t>Improving processing efficiency and reducing delivery delays can significantly enhance customer satisfaction, improve review scores, and reduce churn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B5405-911D-69CA-85F1-8BFDF9E31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6" y="1472867"/>
            <a:ext cx="3696514" cy="2335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CCBB0-A7B1-70E5-55D9-DD98F6B4C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39" y="1472867"/>
            <a:ext cx="3707829" cy="23350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99A9F0-A831-5F5E-0141-0CF75918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068" y="4048758"/>
            <a:ext cx="3789852" cy="2399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2458550"/>
            <a:ext cx="7765322" cy="97045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696</TotalTime>
  <Words>972</Words>
  <Application>Microsoft Office PowerPoint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E-Commerce Data Analysis using Power BI</vt:lpstr>
      <vt:lpstr>Project Overview</vt:lpstr>
      <vt:lpstr>Dataset Overview</vt:lpstr>
      <vt:lpstr>Tools &amp; Technologies</vt:lpstr>
      <vt:lpstr>Key KPIs</vt:lpstr>
      <vt:lpstr>Product Analysis</vt:lpstr>
      <vt:lpstr>Customer Churn Analysis</vt:lpstr>
      <vt:lpstr>Customer Segmentation</vt:lpstr>
      <vt:lpstr>Seller Performance</vt:lpstr>
      <vt:lpstr>Delivery Delay Analysis</vt:lpstr>
      <vt:lpstr>Dashboard Overview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Yadav</cp:lastModifiedBy>
  <cp:revision>13</cp:revision>
  <dcterms:created xsi:type="dcterms:W3CDTF">2013-01-27T09:14:16Z</dcterms:created>
  <dcterms:modified xsi:type="dcterms:W3CDTF">2026-03-31T18:04:54Z</dcterms:modified>
  <cp:category/>
</cp:coreProperties>
</file>