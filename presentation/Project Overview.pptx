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3" r:id="rId13"/>
    <p:sldId id="271" r:id="rId14"/>
    <p:sldId id="272" r:id="rId15"/>
    <p:sldId id="270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72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020" y="1769541"/>
            <a:ext cx="7080026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020" y="3598339"/>
            <a:ext cx="7080026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110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818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1" y="1761068"/>
            <a:ext cx="7192913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3589879"/>
            <a:ext cx="7192913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1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347" y="1732449"/>
            <a:ext cx="3795373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2169" y="1732450"/>
            <a:ext cx="3798499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3371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345" y="1770323"/>
            <a:ext cx="3787423" cy="4112953"/>
          </a:xfrm>
          <a:prstGeom prst="rect">
            <a:avLst/>
          </a:prstGeom>
        </p:spPr>
      </p:pic>
      <p:pic>
        <p:nvPicPr>
          <p:cNvPr id="14" name="Picture 13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3245" y="1770323"/>
            <a:ext cx="3787423" cy="411295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404" y="1835254"/>
            <a:ext cx="3657258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404" y="2380138"/>
            <a:ext cx="3657258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21225" y="1835255"/>
            <a:ext cx="3671498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21225" y="2380138"/>
            <a:ext cx="3671498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7770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904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609600"/>
            <a:ext cx="2780167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1725" y="609600"/>
            <a:ext cx="4808943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2431518"/>
            <a:ext cx="2780167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861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Slate-V2-S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4987" y="609923"/>
            <a:ext cx="3428146" cy="520547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609923"/>
            <a:ext cx="3924676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976728" y="743989"/>
            <a:ext cx="3165375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2439261"/>
            <a:ext cx="3924676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008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late-V2-S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995" y="540085"/>
            <a:ext cx="7656010" cy="383437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4" y="4565255"/>
            <a:ext cx="7766495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26217" y="695010"/>
            <a:ext cx="7285600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5108728"/>
            <a:ext cx="776532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142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608437"/>
            <a:ext cx="776532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4295180"/>
            <a:ext cx="7765322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3955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609600"/>
            <a:ext cx="6977064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610033"/>
            <a:ext cx="6564224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4304353"/>
            <a:ext cx="7765322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27459" y="87391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28359" y="2933245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980028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2126943"/>
            <a:ext cx="7765322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9" y="4650556"/>
            <a:ext cx="776414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7451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46" y="609600"/>
            <a:ext cx="776532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46" y="1885950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46" y="2571750"/>
            <a:ext cx="2475738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5033" y="1885950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76" y="2571750"/>
            <a:ext cx="2475738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4929" y="1885950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4929" y="2571750"/>
            <a:ext cx="2475738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3245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239" y="1826045"/>
            <a:ext cx="2529046" cy="1833558"/>
          </a:xfrm>
          <a:prstGeom prst="rect">
            <a:avLst/>
          </a:prstGeom>
        </p:spPr>
      </p:pic>
      <p:pic>
        <p:nvPicPr>
          <p:cNvPr id="28" name="Picture 27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3813" y="1826045"/>
            <a:ext cx="2529046" cy="1833558"/>
          </a:xfrm>
          <a:prstGeom prst="rect">
            <a:avLst/>
          </a:prstGeom>
        </p:spPr>
      </p:pic>
      <p:pic>
        <p:nvPicPr>
          <p:cNvPr id="29" name="Picture 28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715" y="1826045"/>
            <a:ext cx="2529046" cy="1833558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46" y="609600"/>
            <a:ext cx="776532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46" y="3904106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763577" y="1938918"/>
            <a:ext cx="2319276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46" y="4480369"/>
            <a:ext cx="2475738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91" y="3904106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09307" y="1939094"/>
            <a:ext cx="2319276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75" y="4480368"/>
            <a:ext cx="2476753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5023" y="3904106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056774" y="1934432"/>
            <a:ext cx="2319276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4929" y="4480366"/>
            <a:ext cx="2475738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4525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2505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37302" y="609600"/>
            <a:ext cx="1713365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347" y="609600"/>
            <a:ext cx="5937654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424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jp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 l="-22000" r="-2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46" y="609600"/>
            <a:ext cx="776532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46" y="1732450"/>
            <a:ext cx="776532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2" y="5883276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47" y="5883276"/>
            <a:ext cx="500464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5883276"/>
            <a:ext cx="5651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92574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  <p:sldLayoutId id="2147483780" r:id="rId12"/>
    <p:sldLayoutId id="2147483781" r:id="rId13"/>
    <p:sldLayoutId id="2147483782" r:id="rId14"/>
    <p:sldLayoutId id="2147483783" r:id="rId15"/>
    <p:sldLayoutId id="2147483784" r:id="rId16"/>
    <p:sldLayoutId id="2147483785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5075" y="2463526"/>
            <a:ext cx="7765322" cy="970450"/>
          </a:xfrm>
        </p:spPr>
        <p:txBody>
          <a:bodyPr>
            <a:normAutofit fontScale="90000"/>
          </a:bodyPr>
          <a:lstStyle/>
          <a:p>
            <a:r>
              <a:rPr dirty="0">
                <a:solidFill>
                  <a:srgbClr val="00B0F0"/>
                </a:solidFill>
              </a:rPr>
              <a:t>E-Commerce Data Analysis using Power BI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dirty="0">
                <a:solidFill>
                  <a:srgbClr val="00B0F0"/>
                </a:solidFill>
              </a:rP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Analyze product performance</a:t>
            </a:r>
          </a:p>
          <a:p>
            <a:r>
              <a:rPr dirty="0"/>
              <a:t>Customer churn &amp; segmentation</a:t>
            </a:r>
          </a:p>
          <a:p>
            <a:r>
              <a:rPr dirty="0"/>
              <a:t>Seller performance</a:t>
            </a:r>
          </a:p>
          <a:p>
            <a:r>
              <a:rPr dirty="0"/>
              <a:t>Delivery delay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dirty="0">
                <a:solidFill>
                  <a:srgbClr val="00B0F0"/>
                </a:solidFill>
              </a:rPr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b="1" dirty="0"/>
              <a:t>Source: </a:t>
            </a:r>
            <a:r>
              <a:rPr lang="en-US" dirty="0"/>
              <a:t>Kaggle</a:t>
            </a:r>
            <a:endParaRPr dirty="0"/>
          </a:p>
          <a:p>
            <a:r>
              <a:rPr b="1" dirty="0"/>
              <a:t>Tables: </a:t>
            </a:r>
            <a:r>
              <a:rPr dirty="0"/>
              <a:t>Orders, Customers, Products, Sellers</a:t>
            </a:r>
            <a:r>
              <a:rPr lang="en-US" dirty="0"/>
              <a:t>, reviews</a:t>
            </a:r>
            <a:endParaRPr dirty="0"/>
          </a:p>
          <a:p>
            <a:r>
              <a:rPr b="1" dirty="0"/>
              <a:t>Key columns used</a:t>
            </a:r>
            <a:r>
              <a:rPr lang="en-US" b="1" dirty="0"/>
              <a:t>: </a:t>
            </a:r>
            <a:r>
              <a:rPr lang="en-US" dirty="0" err="1"/>
              <a:t>customer_id</a:t>
            </a:r>
            <a:r>
              <a:rPr lang="en-US" dirty="0"/>
              <a:t>, </a:t>
            </a:r>
            <a:r>
              <a:rPr lang="en-US" dirty="0" err="1"/>
              <a:t>customer_state</a:t>
            </a:r>
            <a:r>
              <a:rPr lang="en-US" dirty="0"/>
              <a:t>, </a:t>
            </a:r>
            <a:r>
              <a:rPr lang="en-US" dirty="0" err="1"/>
              <a:t>order_id</a:t>
            </a:r>
            <a:r>
              <a:rPr lang="en-US" dirty="0"/>
              <a:t>, </a:t>
            </a:r>
            <a:r>
              <a:rPr lang="en-US" dirty="0" err="1"/>
              <a:t>order_purchase_timestamp</a:t>
            </a:r>
            <a:r>
              <a:rPr lang="en-US" dirty="0"/>
              <a:t>, </a:t>
            </a:r>
            <a:r>
              <a:rPr lang="en-US" dirty="0" err="1"/>
              <a:t>order_delivered_customer_date</a:t>
            </a:r>
            <a:r>
              <a:rPr lang="en-US" dirty="0"/>
              <a:t>, </a:t>
            </a:r>
            <a:r>
              <a:rPr lang="en-US" dirty="0" err="1"/>
              <a:t>product_id</a:t>
            </a:r>
            <a:r>
              <a:rPr lang="en-US" dirty="0"/>
              <a:t>, </a:t>
            </a:r>
            <a:r>
              <a:rPr lang="en-US" dirty="0" err="1"/>
              <a:t>seller_id</a:t>
            </a:r>
            <a:r>
              <a:rPr lang="en-US" dirty="0"/>
              <a:t>, price, </a:t>
            </a:r>
            <a:r>
              <a:rPr lang="en-US" dirty="0" err="1"/>
              <a:t>freight_value</a:t>
            </a:r>
            <a:r>
              <a:rPr lang="en-US" dirty="0"/>
              <a:t>, </a:t>
            </a:r>
            <a:r>
              <a:rPr lang="en-US" dirty="0" err="1"/>
              <a:t>payment_type</a:t>
            </a:r>
            <a:r>
              <a:rPr lang="en-US" dirty="0"/>
              <a:t>, review _score, </a:t>
            </a:r>
            <a:r>
              <a:rPr lang="en-US" dirty="0" err="1"/>
              <a:t>product_category_name</a:t>
            </a:r>
            <a:r>
              <a:rPr lang="en-US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dirty="0">
                <a:solidFill>
                  <a:srgbClr val="00B0F0"/>
                </a:solidFill>
              </a:rPr>
              <a:t>Tools &amp;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Power BI</a:t>
            </a:r>
          </a:p>
          <a:p>
            <a:r>
              <a:rPr dirty="0"/>
              <a:t>Excel / Python</a:t>
            </a:r>
          </a:p>
          <a:p>
            <a:r>
              <a:rPr dirty="0"/>
              <a:t>Data cleaning &amp; transformation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dirty="0">
                <a:solidFill>
                  <a:srgbClr val="00B0F0"/>
                </a:solidFill>
              </a:rPr>
              <a:t>Key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Revenue</a:t>
            </a:r>
          </a:p>
          <a:p>
            <a:r>
              <a:t>Total Orders</a:t>
            </a:r>
          </a:p>
          <a:p>
            <a:r>
              <a:t>Total Customers</a:t>
            </a:r>
          </a:p>
          <a:p>
            <a:r>
              <a:t>Churn Rate</a:t>
            </a:r>
          </a:p>
          <a:p>
            <a:r>
              <a:t>Avg Delivery Time</a:t>
            </a:r>
          </a:p>
          <a:p>
            <a:r>
              <a:t>Avg Review Score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4647" y="314620"/>
            <a:ext cx="7765322" cy="970450"/>
          </a:xfrm>
        </p:spPr>
        <p:txBody>
          <a:bodyPr/>
          <a:lstStyle/>
          <a:p>
            <a:pPr algn="l"/>
            <a:r>
              <a:rPr dirty="0">
                <a:solidFill>
                  <a:srgbClr val="00B0F0"/>
                </a:solidFill>
              </a:rPr>
              <a:t>Product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" y="1338920"/>
            <a:ext cx="4183380" cy="5201750"/>
          </a:xfrm>
        </p:spPr>
        <p:txBody>
          <a:bodyPr>
            <a:normAutofit/>
          </a:bodyPr>
          <a:lstStyle/>
          <a:p>
            <a:r>
              <a:rPr lang="en-US" sz="1200" b="1" dirty="0">
                <a:solidFill>
                  <a:srgbClr val="00B0F0"/>
                </a:solidFill>
              </a:rPr>
              <a:t>Top Performing Product Categories</a:t>
            </a:r>
            <a:br>
              <a:rPr lang="en-US" sz="1200" dirty="0"/>
            </a:br>
            <a:r>
              <a:rPr lang="en-US" sz="1200" dirty="0"/>
              <a:t>The analysis identifies the following categories as the highest contributors in terms of sales volume:</a:t>
            </a:r>
          </a:p>
          <a:p>
            <a:r>
              <a:rPr lang="en-US" sz="1200" b="1" dirty="0" err="1"/>
              <a:t>cama_mesa_banho</a:t>
            </a:r>
            <a:r>
              <a:rPr lang="en-US" sz="1200" b="1" dirty="0"/>
              <a:t> (11,847 units)</a:t>
            </a:r>
            <a:r>
              <a:rPr lang="en-US" sz="1200" dirty="0"/>
              <a:t> – </a:t>
            </a:r>
            <a:r>
              <a:rPr lang="en-US" sz="1200" i="1" dirty="0"/>
              <a:t>Bed, Bath &amp; Table</a:t>
            </a:r>
            <a:endParaRPr lang="en-US" sz="1200" dirty="0"/>
          </a:p>
          <a:p>
            <a:r>
              <a:rPr lang="en-US" sz="1200" b="1" dirty="0" err="1"/>
              <a:t>beleza_saude</a:t>
            </a:r>
            <a:r>
              <a:rPr lang="en-US" sz="1200" b="1" dirty="0"/>
              <a:t> (9,944 units)</a:t>
            </a:r>
            <a:r>
              <a:rPr lang="en-US" sz="1200" dirty="0"/>
              <a:t> – </a:t>
            </a:r>
            <a:r>
              <a:rPr lang="en-US" sz="1200" i="1" dirty="0"/>
              <a:t>Beauty &amp; Health</a:t>
            </a:r>
            <a:endParaRPr lang="en-US" sz="1200" dirty="0"/>
          </a:p>
          <a:p>
            <a:r>
              <a:rPr lang="en-US" sz="1200" b="1" dirty="0" err="1"/>
              <a:t>esporte_lazer</a:t>
            </a:r>
            <a:r>
              <a:rPr lang="en-US" sz="1200" b="1" dirty="0"/>
              <a:t> (8,942 units)</a:t>
            </a:r>
            <a:r>
              <a:rPr lang="en-US" sz="1200" dirty="0"/>
              <a:t> – </a:t>
            </a:r>
            <a:r>
              <a:rPr lang="en-US" sz="1200" i="1" dirty="0"/>
              <a:t>Sports &amp; Leisure</a:t>
            </a:r>
            <a:endParaRPr lang="en-US" sz="1200" dirty="0"/>
          </a:p>
          <a:p>
            <a:r>
              <a:rPr lang="en-US" sz="1200" b="1" dirty="0" err="1"/>
              <a:t>moveis_decoracao</a:t>
            </a:r>
            <a:r>
              <a:rPr lang="en-US" sz="1200" b="1" dirty="0"/>
              <a:t> (8,942 units)</a:t>
            </a:r>
            <a:r>
              <a:rPr lang="en-US" sz="1200" dirty="0"/>
              <a:t> – </a:t>
            </a:r>
            <a:r>
              <a:rPr lang="en-US" sz="1200" i="1" dirty="0"/>
              <a:t>Furniture &amp; Decoration</a:t>
            </a:r>
            <a:endParaRPr lang="en-US" sz="1200" dirty="0"/>
          </a:p>
          <a:p>
            <a:r>
              <a:rPr lang="en-US" sz="1200" b="1" dirty="0" err="1"/>
              <a:t>informatica_acessorios</a:t>
            </a:r>
            <a:r>
              <a:rPr lang="en-US" sz="1200" b="1" dirty="0"/>
              <a:t> (8,150 units)</a:t>
            </a:r>
            <a:r>
              <a:rPr lang="en-US" sz="1200" dirty="0"/>
              <a:t> – </a:t>
            </a:r>
            <a:r>
              <a:rPr lang="en-US" sz="1200" i="1" dirty="0"/>
              <a:t>IT / Computer Accessories</a:t>
            </a:r>
            <a:endParaRPr lang="en-US" sz="1200" dirty="0"/>
          </a:p>
          <a:p>
            <a:r>
              <a:rPr lang="en-US" sz="1200" dirty="0"/>
              <a:t>These categories represent the core demand drivers and play a significant role in overall business performance.</a:t>
            </a:r>
          </a:p>
          <a:p>
            <a:r>
              <a:rPr lang="en-US" sz="1200" b="1" dirty="0">
                <a:solidFill>
                  <a:srgbClr val="00B0F0"/>
                </a:solidFill>
              </a:rPr>
              <a:t>Least Performing Product Categories</a:t>
            </a:r>
            <a:br>
              <a:rPr lang="en-US" sz="1200" dirty="0"/>
            </a:br>
            <a:r>
              <a:rPr lang="en-US" sz="1200" dirty="0"/>
              <a:t>The following categories have minimal sales and limited impact on overall performance:</a:t>
            </a:r>
          </a:p>
          <a:p>
            <a:r>
              <a:rPr lang="en-US" sz="1200" b="1" dirty="0" err="1"/>
              <a:t>seguros_e_servicos</a:t>
            </a:r>
            <a:r>
              <a:rPr lang="en-US" sz="1200" b="1" dirty="0"/>
              <a:t> (2 units)</a:t>
            </a:r>
            <a:r>
              <a:rPr lang="en-US" sz="1200" dirty="0"/>
              <a:t> – </a:t>
            </a:r>
            <a:r>
              <a:rPr lang="en-US" sz="1200" i="1" dirty="0"/>
              <a:t>Insurance &amp; Services</a:t>
            </a:r>
            <a:endParaRPr lang="en-US" sz="1200" dirty="0"/>
          </a:p>
          <a:p>
            <a:r>
              <a:rPr lang="en-US" sz="1200" b="1" dirty="0" err="1"/>
              <a:t>portateis_cozinha_e_preparadores_de_alimentos</a:t>
            </a:r>
            <a:r>
              <a:rPr lang="en-US" sz="1200" b="1" dirty="0"/>
              <a:t> (3 units)</a:t>
            </a:r>
            <a:r>
              <a:rPr lang="en-US" sz="1200" dirty="0"/>
              <a:t> – </a:t>
            </a:r>
            <a:r>
              <a:rPr lang="en-US" sz="1200" i="1" dirty="0"/>
              <a:t>Portable Kitchen &amp; Food Preparers</a:t>
            </a:r>
            <a:endParaRPr lang="en-US" sz="1200" dirty="0"/>
          </a:p>
          <a:p>
            <a:r>
              <a:rPr lang="en-US" sz="1200" b="1" dirty="0" err="1"/>
              <a:t>artes_e_artesanato</a:t>
            </a:r>
            <a:r>
              <a:rPr lang="en-US" sz="1200" b="1" dirty="0"/>
              <a:t> (6 units)</a:t>
            </a:r>
            <a:r>
              <a:rPr lang="en-US" sz="1200" dirty="0"/>
              <a:t> – </a:t>
            </a:r>
            <a:r>
              <a:rPr lang="en-US" sz="1200" i="1" dirty="0"/>
              <a:t>Arts &amp; Crafts</a:t>
            </a:r>
            <a:endParaRPr lang="en-US" sz="1200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A352411-D2C2-A223-1EB0-DEA3BACEF2BD}"/>
              </a:ext>
            </a:extLst>
          </p:cNvPr>
          <p:cNvSpPr txBox="1">
            <a:spLocks/>
          </p:cNvSpPr>
          <p:nvPr/>
        </p:nvSpPr>
        <p:spPr>
          <a:xfrm>
            <a:off x="4427308" y="1341630"/>
            <a:ext cx="4183380" cy="52017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/>
              <a:t>Due to their low volume, these categories can be grouped under “Others” for more meaningful analysis.</a:t>
            </a:r>
          </a:p>
          <a:p>
            <a:r>
              <a:rPr lang="en-US" sz="1200" b="1" dirty="0">
                <a:solidFill>
                  <a:srgbClr val="00B0F0"/>
                </a:solidFill>
              </a:rPr>
              <a:t>Revenue Contribution</a:t>
            </a:r>
            <a:br>
              <a:rPr lang="en-US" sz="1200" dirty="0"/>
            </a:br>
            <a:r>
              <a:rPr lang="en-US" sz="1200" dirty="0"/>
              <a:t>The top 5 product categories contribute approximately </a:t>
            </a:r>
            <a:r>
              <a:rPr lang="en-US" sz="1200" b="1" dirty="0"/>
              <a:t>40% of the total revenue</a:t>
            </a:r>
            <a:r>
              <a:rPr lang="en-US" sz="1200" dirty="0"/>
              <a:t>, amounting to nearly </a:t>
            </a:r>
            <a:r>
              <a:rPr lang="en-US" sz="1200" b="1" dirty="0"/>
              <a:t>6.44 million</a:t>
            </a:r>
            <a:r>
              <a:rPr lang="en-US" sz="1200" dirty="0"/>
              <a:t>.</a:t>
            </a:r>
            <a:br>
              <a:rPr lang="en-US" sz="1200" dirty="0"/>
            </a:br>
            <a:r>
              <a:rPr lang="en-US" sz="1200" dirty="0"/>
              <a:t>This indicates a strong concentration of revenue within a limited number of categories.</a:t>
            </a:r>
          </a:p>
          <a:p>
            <a:r>
              <a:rPr lang="en-US" sz="1200" b="1" dirty="0">
                <a:solidFill>
                  <a:srgbClr val="00B0F0"/>
                </a:solidFill>
              </a:rPr>
              <a:t>Payment Behavior Insights</a:t>
            </a:r>
            <a:br>
              <a:rPr lang="en-US" sz="1200" dirty="0"/>
            </a:br>
            <a:r>
              <a:rPr lang="en-US" sz="1200" dirty="0"/>
              <a:t>Credit cards are the most preferred payment method among customers.</a:t>
            </a:r>
            <a:br>
              <a:rPr lang="en-US" sz="1200" dirty="0"/>
            </a:br>
            <a:r>
              <a:rPr lang="en-US" sz="1200" dirty="0"/>
              <a:t>This is largely driven by the availability of installment-based payments, with customers opting for an average of </a:t>
            </a:r>
            <a:r>
              <a:rPr lang="en-US" sz="1200" b="1" dirty="0"/>
              <a:t>3 installments per transaction</a:t>
            </a:r>
            <a:r>
              <a:rPr lang="en-US" sz="1200" dirty="0"/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dirty="0">
                <a:solidFill>
                  <a:srgbClr val="00B0F0"/>
                </a:solidFill>
              </a:rPr>
              <a:t>Customer Churn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46" y="1732450"/>
            <a:ext cx="3886654" cy="4851230"/>
          </a:xfrm>
        </p:spPr>
        <p:txBody>
          <a:bodyPr>
            <a:normAutofit/>
          </a:bodyPr>
          <a:lstStyle/>
          <a:p>
            <a:r>
              <a:rPr lang="en-US" sz="1200" b="1" dirty="0"/>
              <a:t>Churn Definition: </a:t>
            </a:r>
            <a:r>
              <a:rPr lang="en-US" sz="1200" dirty="0"/>
              <a:t>Customers who have </a:t>
            </a:r>
            <a:r>
              <a:rPr lang="en-US" sz="1200" b="1" dirty="0"/>
              <a:t>stopped purchasing or become inactive</a:t>
            </a:r>
            <a:r>
              <a:rPr lang="en-US" sz="1200" dirty="0"/>
              <a:t> over a specific period.</a:t>
            </a:r>
          </a:p>
          <a:p>
            <a:r>
              <a:rPr lang="en-US" sz="1200" b="1" dirty="0"/>
              <a:t>Churn Rate: </a:t>
            </a:r>
            <a:r>
              <a:rPr lang="en-US" sz="1200" dirty="0"/>
              <a:t>The </a:t>
            </a:r>
            <a:r>
              <a:rPr lang="en-US" sz="1200" b="1" dirty="0"/>
              <a:t>percentage of customers who stopped doing business</a:t>
            </a:r>
            <a:r>
              <a:rPr lang="en-US" sz="1200" dirty="0"/>
              <a:t> with the company during a given time period.</a:t>
            </a:r>
            <a:endParaRPr lang="en-US" sz="1200" b="1" dirty="0"/>
          </a:p>
          <a:p>
            <a:r>
              <a:rPr lang="en-US" sz="1200" b="1" dirty="0"/>
              <a:t>Churn Customers</a:t>
            </a:r>
            <a:r>
              <a:rPr lang="en-US" sz="1200" dirty="0"/>
              <a:t>: Customers who left or became inactive </a:t>
            </a:r>
          </a:p>
          <a:p>
            <a:r>
              <a:rPr lang="en-US" sz="1200" b="1" dirty="0"/>
              <a:t>Non-Churn Customers</a:t>
            </a:r>
            <a:r>
              <a:rPr lang="en-US" sz="1200" dirty="0"/>
              <a:t>: Active customers who continue to purchase</a:t>
            </a:r>
          </a:p>
          <a:p>
            <a:r>
              <a:rPr lang="en-US" sz="1600" b="1" dirty="0">
                <a:solidFill>
                  <a:srgbClr val="00B0F0"/>
                </a:solidFill>
              </a:rPr>
              <a:t>Key insights</a:t>
            </a:r>
          </a:p>
          <a:p>
            <a:r>
              <a:rPr lang="en-US" sz="1200" b="1" dirty="0"/>
              <a:t>Customer Purchase Frequency</a:t>
            </a:r>
            <a:br>
              <a:rPr lang="en-US" sz="1200" dirty="0"/>
            </a:br>
            <a:r>
              <a:rPr lang="en-US" sz="1200" dirty="0"/>
              <a:t>Out of a total of approximately </a:t>
            </a:r>
            <a:r>
              <a:rPr lang="en-US" sz="1200" b="1" dirty="0"/>
              <a:t>97,000 customers</a:t>
            </a:r>
            <a:r>
              <a:rPr lang="en-US" sz="1200" dirty="0"/>
              <a:t>, nearly </a:t>
            </a:r>
            <a:r>
              <a:rPr lang="en-US" sz="1200" b="1" dirty="0"/>
              <a:t>91,000 customers have made only a single purchase</a:t>
            </a:r>
            <a:r>
              <a:rPr lang="en-US" sz="1200" dirty="0"/>
              <a:t>.</a:t>
            </a:r>
            <a:br>
              <a:rPr lang="en-US" sz="1200" dirty="0"/>
            </a:br>
            <a:r>
              <a:rPr lang="en-US" sz="1200" dirty="0"/>
              <a:t>This indicates a very high proportion of one-time buyers, highlighting challenges in customer retention and repeat engagement.</a:t>
            </a:r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59FF687-2B64-BD56-656E-1AC5817F30CC}"/>
              </a:ext>
            </a:extLst>
          </p:cNvPr>
          <p:cNvSpPr txBox="1">
            <a:spLocks/>
          </p:cNvSpPr>
          <p:nvPr/>
        </p:nvSpPr>
        <p:spPr>
          <a:xfrm>
            <a:off x="4564014" y="1732449"/>
            <a:ext cx="3886654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 dirty="0"/>
              <a:t>Impact of Delivery Experience on Churn</a:t>
            </a:r>
            <a:br>
              <a:rPr lang="en-US" sz="1200" dirty="0"/>
            </a:br>
            <a:r>
              <a:rPr lang="en-US" sz="1200" dirty="0"/>
              <a:t>Customers who experience </a:t>
            </a:r>
            <a:r>
              <a:rPr lang="en-US" sz="1200" b="1" dirty="0"/>
              <a:t>delayed deliveries are significantly more likely to churn</a:t>
            </a:r>
            <a:r>
              <a:rPr lang="en-US" sz="1200" dirty="0"/>
              <a:t>.</a:t>
            </a:r>
            <a:br>
              <a:rPr lang="en-US" sz="1200" dirty="0"/>
            </a:br>
            <a:r>
              <a:rPr lang="en-US" sz="1200" dirty="0"/>
              <a:t>This reinforces the importance of timely order fulfillment in maintaining customer loyalty and reducing attrition.</a:t>
            </a:r>
          </a:p>
          <a:p>
            <a:r>
              <a:rPr lang="en-US" sz="1200" b="1" dirty="0"/>
              <a:t>Year-wise Churn Trends</a:t>
            </a:r>
            <a:endParaRPr lang="en-US" sz="1200" dirty="0"/>
          </a:p>
          <a:p>
            <a:r>
              <a:rPr lang="en-US" sz="1200" dirty="0"/>
              <a:t>In </a:t>
            </a:r>
            <a:r>
              <a:rPr lang="en-US" sz="1200" b="1" dirty="0"/>
              <a:t>2016 and 2017</a:t>
            </a:r>
            <a:r>
              <a:rPr lang="en-US" sz="1200" dirty="0"/>
              <a:t>, the churn rate was extremely high at around </a:t>
            </a:r>
            <a:r>
              <a:rPr lang="en-US" sz="1200" b="1" dirty="0"/>
              <a:t>98%</a:t>
            </a:r>
            <a:r>
              <a:rPr lang="en-US" sz="1200" dirty="0"/>
              <a:t>, indicating very low customer retention during the early years.</a:t>
            </a:r>
          </a:p>
          <a:p>
            <a:r>
              <a:rPr lang="en-US" sz="1200" dirty="0"/>
              <a:t>In </a:t>
            </a:r>
            <a:r>
              <a:rPr lang="en-US" sz="1200" b="1" dirty="0"/>
              <a:t>2018</a:t>
            </a:r>
            <a:r>
              <a:rPr lang="en-US" sz="1200" dirty="0"/>
              <a:t>, the churn rate </a:t>
            </a:r>
            <a:r>
              <a:rPr lang="en-US" sz="1200" b="1" dirty="0"/>
              <a:t>dropped significantly to approximately 27%</a:t>
            </a:r>
            <a:r>
              <a:rPr lang="en-US" sz="1200" dirty="0"/>
              <a:t>, suggesting notable improvements in customer retention strategies and overall service performance.</a:t>
            </a:r>
          </a:p>
          <a:p>
            <a:endParaRPr lang="en-US" sz="1200" dirty="0"/>
          </a:p>
          <a:p>
            <a:pPr marL="36900" indent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335280"/>
            <a:ext cx="7765322" cy="970450"/>
          </a:xfrm>
        </p:spPr>
        <p:txBody>
          <a:bodyPr/>
          <a:lstStyle/>
          <a:p>
            <a:pPr algn="l"/>
            <a:r>
              <a:rPr dirty="0">
                <a:solidFill>
                  <a:srgbClr val="00B0F0"/>
                </a:solidFill>
              </a:rPr>
              <a:t>Customer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1600" b="1" dirty="0"/>
              <a:t>High Potential Customers: </a:t>
            </a:r>
            <a:r>
              <a:rPr lang="en-US" sz="1600" dirty="0"/>
              <a:t>Purchased recently, only one purchase so far, high spend per order.</a:t>
            </a:r>
          </a:p>
          <a:p>
            <a:pPr marL="36900" indent="0">
              <a:buNone/>
            </a:pPr>
            <a:r>
              <a:rPr lang="en-US" sz="1600" dirty="0"/>
              <a:t>Action: Onboarding emails, First repeat purchase discounts, Product recommendations</a:t>
            </a:r>
          </a:p>
          <a:p>
            <a:r>
              <a:rPr lang="en-US" sz="1600" b="1" dirty="0"/>
              <a:t>Low Value Customers: </a:t>
            </a:r>
            <a:r>
              <a:rPr lang="en-US" sz="1600" dirty="0"/>
              <a:t>Purchased relatively recently, single purchase, very low spend (use low cost marketing, do not overspend on retention. </a:t>
            </a:r>
          </a:p>
          <a:p>
            <a:pPr marL="36900" indent="0">
              <a:buNone/>
            </a:pPr>
            <a:r>
              <a:rPr lang="en-US" sz="1600" dirty="0"/>
              <a:t>Action: Low-cost marketing, Do not overspend on retention</a:t>
            </a:r>
          </a:p>
          <a:p>
            <a:r>
              <a:rPr lang="en-US" sz="1600" b="1" dirty="0"/>
              <a:t>High Value: </a:t>
            </a:r>
            <a:r>
              <a:rPr lang="en-US" sz="1600" dirty="0"/>
              <a:t>Buy more than once on an average, high spending (loyal customers, repeat buyers). </a:t>
            </a:r>
          </a:p>
          <a:p>
            <a:pPr marL="36900" indent="0">
              <a:buNone/>
            </a:pPr>
            <a:r>
              <a:rPr lang="en-US" sz="1600" dirty="0"/>
              <a:t>Action: Exclusive discounts or cashback, reward points/membership tiers (Gold, Silver, Platinum).</a:t>
            </a:r>
          </a:p>
          <a:p>
            <a:r>
              <a:rPr lang="en-US" sz="1600" b="1" dirty="0"/>
              <a:t>At Risk: </a:t>
            </a:r>
            <a:r>
              <a:rPr lang="en-US" sz="1600" dirty="0"/>
              <a:t>Long time since last purchase, bought only once, medium-low spending (inactive customers) </a:t>
            </a:r>
          </a:p>
          <a:p>
            <a:pPr marL="36900" indent="0">
              <a:buNone/>
            </a:pPr>
            <a:r>
              <a:rPr lang="en-US" sz="1600" dirty="0"/>
              <a:t>Action: Re-engagement campaigns, Win-back offers, Reminder emails</a:t>
            </a:r>
          </a:p>
          <a:p>
            <a:pPr marL="0" indent="0">
              <a:buNone/>
            </a:pPr>
            <a:endParaRPr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447040"/>
            <a:ext cx="7765322" cy="970450"/>
          </a:xfrm>
        </p:spPr>
        <p:txBody>
          <a:bodyPr/>
          <a:lstStyle/>
          <a:p>
            <a:pPr algn="l"/>
            <a:r>
              <a:rPr dirty="0">
                <a:solidFill>
                  <a:srgbClr val="00B0F0"/>
                </a:solidFill>
              </a:rPr>
              <a:t>Seller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Top sellers</a:t>
            </a:r>
            <a:r>
              <a:rPr lang="en-US" dirty="0"/>
              <a:t>: </a:t>
            </a:r>
          </a:p>
          <a:p>
            <a:pPr marL="27675" indent="0">
              <a:buNone/>
            </a:pPr>
            <a:r>
              <a:rPr lang="en-US" dirty="0"/>
              <a:t>4a3ca9315b744ce9f8e9374361493884(2128), 6560211a19b47992c3666cc44a7e94c0(2111), 1f50f920176fa81dab994f9023523100(2009)</a:t>
            </a:r>
            <a:endParaRPr dirty="0"/>
          </a:p>
          <a:p>
            <a:r>
              <a:rPr dirty="0">
                <a:solidFill>
                  <a:srgbClr val="00B0F0"/>
                </a:solidFill>
              </a:rPr>
              <a:t>Rating vs sales</a:t>
            </a:r>
            <a:r>
              <a:rPr lang="en-US" dirty="0">
                <a:solidFill>
                  <a:srgbClr val="00B0F0"/>
                </a:solidFill>
              </a:rPr>
              <a:t>: </a:t>
            </a:r>
          </a:p>
          <a:p>
            <a:pPr marL="36900" indent="0">
              <a:buNone/>
            </a:pPr>
            <a:r>
              <a:rPr lang="en-US" dirty="0"/>
              <a:t>Average Seller rating is 4.08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726" y="267063"/>
            <a:ext cx="7765322" cy="970450"/>
          </a:xfrm>
        </p:spPr>
        <p:txBody>
          <a:bodyPr/>
          <a:lstStyle/>
          <a:p>
            <a:pPr algn="l"/>
            <a:r>
              <a:rPr dirty="0">
                <a:solidFill>
                  <a:srgbClr val="00B0F0"/>
                </a:solidFill>
              </a:rPr>
              <a:t>Delivery Delay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5407" y="1351280"/>
            <a:ext cx="4282439" cy="5242560"/>
          </a:xfrm>
        </p:spPr>
        <p:txBody>
          <a:bodyPr>
            <a:noAutofit/>
          </a:bodyPr>
          <a:lstStyle/>
          <a:p>
            <a:r>
              <a:rPr lang="en-US" sz="1200" b="1" dirty="0"/>
              <a:t>Average Delivery Time</a:t>
            </a:r>
            <a:br>
              <a:rPr lang="en-US" sz="1200" dirty="0"/>
            </a:br>
            <a:r>
              <a:rPr lang="en-US" sz="1200" dirty="0"/>
              <a:t>The overall average delivery time is approximately </a:t>
            </a:r>
            <a:r>
              <a:rPr lang="en-US" sz="1200" b="1" dirty="0"/>
              <a:t>12 days</a:t>
            </a:r>
            <a:r>
              <a:rPr lang="en-US" sz="1200" dirty="0"/>
              <a:t>, indicating the typical duration required for orders to reach customers.</a:t>
            </a:r>
          </a:p>
          <a:p>
            <a:r>
              <a:rPr lang="en-US" sz="1200" b="1" dirty="0"/>
              <a:t>On-Time vs Delayed Deliveries</a:t>
            </a:r>
            <a:br>
              <a:rPr lang="en-US" sz="1200" dirty="0"/>
            </a:br>
            <a:r>
              <a:rPr lang="en-US" sz="1200" dirty="0"/>
              <a:t>Approximately </a:t>
            </a:r>
            <a:r>
              <a:rPr lang="en-US" sz="1200" b="1" dirty="0"/>
              <a:t>8% of total deliveries are delayed</a:t>
            </a:r>
            <a:r>
              <a:rPr lang="en-US" sz="1200" dirty="0"/>
              <a:t>, while the majority of orders are delivered within the expected timeframe.</a:t>
            </a:r>
          </a:p>
          <a:p>
            <a:r>
              <a:rPr lang="en-US" sz="1200" b="1" dirty="0"/>
              <a:t>Impact on Customer Reviews</a:t>
            </a:r>
            <a:br>
              <a:rPr lang="en-US" sz="1200" dirty="0"/>
            </a:br>
            <a:r>
              <a:rPr lang="en-US" sz="1200" dirty="0"/>
              <a:t>Delivery timeliness has a significant influence on customer satisfaction:</a:t>
            </a:r>
          </a:p>
          <a:p>
            <a:r>
              <a:rPr lang="en-US" sz="1200" b="1" dirty="0"/>
              <a:t>Late deliveries</a:t>
            </a:r>
            <a:r>
              <a:rPr lang="en-US" sz="1200" dirty="0"/>
              <a:t> have an average review rating of </a:t>
            </a:r>
            <a:r>
              <a:rPr lang="en-US" sz="1200" b="1" dirty="0"/>
              <a:t>2.3</a:t>
            </a:r>
            <a:endParaRPr lang="en-US" sz="1200" dirty="0"/>
          </a:p>
          <a:p>
            <a:r>
              <a:rPr lang="en-US" sz="1200" b="1" dirty="0"/>
              <a:t>On-time deliveries</a:t>
            </a:r>
            <a:r>
              <a:rPr lang="en-US" sz="1200" dirty="0"/>
              <a:t> achieve a much higher average rating of </a:t>
            </a:r>
            <a:r>
              <a:rPr lang="en-US" sz="1200" b="1" dirty="0"/>
              <a:t>4.1</a:t>
            </a:r>
            <a:endParaRPr lang="en-US" sz="1200" dirty="0"/>
          </a:p>
          <a:p>
            <a:r>
              <a:rPr lang="en-US" sz="1200" dirty="0"/>
              <a:t>This highlights a strong negative impact of delays on customer perception.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04A3E01-A582-60C7-0B74-0C32376255AA}"/>
              </a:ext>
            </a:extLst>
          </p:cNvPr>
          <p:cNvSpPr txBox="1">
            <a:spLocks/>
          </p:cNvSpPr>
          <p:nvPr/>
        </p:nvSpPr>
        <p:spPr>
          <a:xfrm>
            <a:off x="4557846" y="1356190"/>
            <a:ext cx="4452621" cy="524256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Autofit/>
          </a:bodyPr>
          <a:lstStyle>
            <a:lvl1pPr marL="3429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 dirty="0"/>
              <a:t>Key Insights</a:t>
            </a:r>
            <a:endParaRPr lang="en-US" sz="1200" dirty="0"/>
          </a:p>
          <a:p>
            <a:r>
              <a:rPr lang="en-US" sz="1200" b="1" dirty="0"/>
              <a:t>Processing Delay as a Primary Driver</a:t>
            </a:r>
            <a:br>
              <a:rPr lang="en-US" sz="1200" dirty="0"/>
            </a:br>
            <a:r>
              <a:rPr lang="en-US" sz="1200" dirty="0"/>
              <a:t>Orders with delayed delivery experience a higher average processing time (</a:t>
            </a:r>
            <a:r>
              <a:rPr lang="en-US" sz="1200" b="1" dirty="0"/>
              <a:t>~6.5 days</a:t>
            </a:r>
            <a:r>
              <a:rPr lang="en-US" sz="1200" dirty="0"/>
              <a:t>) compared to on-time deliveries (</a:t>
            </a:r>
            <a:r>
              <a:rPr lang="en-US" sz="1200" b="1" dirty="0"/>
              <a:t>~3.8 days</a:t>
            </a:r>
            <a:r>
              <a:rPr lang="en-US" sz="1200" dirty="0"/>
              <a:t>), indicating that internal processing inefficiencies are a major contributor to delays.</a:t>
            </a:r>
          </a:p>
          <a:p>
            <a:r>
              <a:rPr lang="en-US" sz="1200" b="1" dirty="0"/>
              <a:t>Customer Satisfaction Impact</a:t>
            </a:r>
            <a:br>
              <a:rPr lang="en-US" sz="1200" dirty="0"/>
            </a:br>
            <a:r>
              <a:rPr lang="en-US" sz="1200" dirty="0"/>
              <a:t>Delivery delays significantly reduce product review scores, emphasizing the importance of timely fulfillment in maintaining positive customer experiences.</a:t>
            </a:r>
          </a:p>
          <a:p>
            <a:r>
              <a:rPr lang="en-US" sz="1200" b="1" dirty="0"/>
              <a:t>Churn Correlation</a:t>
            </a:r>
            <a:br>
              <a:rPr lang="en-US" sz="1200" dirty="0"/>
            </a:br>
            <a:r>
              <a:rPr lang="en-US" sz="1200" dirty="0"/>
              <a:t>Customers who experience delayed deliveries are more likely to churn.</a:t>
            </a:r>
          </a:p>
          <a:p>
            <a:pPr lvl="1"/>
            <a:r>
              <a:rPr lang="en-US" sz="1200" dirty="0"/>
              <a:t>Churned customers: average delivery time of </a:t>
            </a:r>
            <a:r>
              <a:rPr lang="en-US" sz="1200" b="1" dirty="0"/>
              <a:t>~13 days</a:t>
            </a:r>
            <a:endParaRPr lang="en-US" sz="1200" dirty="0"/>
          </a:p>
          <a:p>
            <a:pPr lvl="1"/>
            <a:r>
              <a:rPr lang="en-US" sz="1200" dirty="0"/>
              <a:t>Non-churned customers: average delivery time of </a:t>
            </a:r>
            <a:r>
              <a:rPr lang="en-US" sz="1200" b="1" dirty="0"/>
              <a:t>~10 days</a:t>
            </a:r>
            <a:endParaRPr lang="en-US" sz="1200" dirty="0"/>
          </a:p>
          <a:p>
            <a:r>
              <a:rPr lang="en-US" sz="1200" dirty="0"/>
              <a:t>This suggests that prolonged delivery times are strongly associated with customer attrition.</a:t>
            </a:r>
          </a:p>
          <a:p>
            <a:r>
              <a:rPr lang="en-US" sz="1200" b="1" dirty="0"/>
              <a:t>Conclusion</a:t>
            </a:r>
            <a:br>
              <a:rPr lang="en-US" sz="1200" dirty="0"/>
            </a:br>
            <a:r>
              <a:rPr lang="en-US" sz="1200" dirty="0"/>
              <a:t>Improving processing efficiency and reducing delivery delays can significantly enhance customer satisfaction, improve review scores, and reduce churn rates.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9339" y="2452330"/>
            <a:ext cx="7765322" cy="970450"/>
          </a:xfrm>
        </p:spPr>
        <p:txBody>
          <a:bodyPr/>
          <a:lstStyle/>
          <a:p>
            <a:r>
              <a:rPr dirty="0"/>
              <a:t>Dashboard Overview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BBE74-7B79-483C-D913-0A8586ADD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06AEA48-642B-C50E-8A0B-5C6AED03C2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0865"/>
            <a:ext cx="9144000" cy="5756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3595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0253F-D52B-B3C7-E078-E49565D37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B69E89-4066-7EC3-CFE4-1E1705C14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6886"/>
            <a:ext cx="9144000" cy="5764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5446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48424-53D3-A542-82B3-425FEEBCB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0C332C2-21A4-2BF1-28A7-C00008970C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2921"/>
            <a:ext cx="9144000" cy="5792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6030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9339" y="2458550"/>
            <a:ext cx="7765322" cy="970450"/>
          </a:xfrm>
        </p:spPr>
        <p:txBody>
          <a:bodyPr/>
          <a:lstStyle/>
          <a:p>
            <a:r>
              <a:rPr dirty="0">
                <a:solidFill>
                  <a:srgbClr val="00B0F0"/>
                </a:solidFill>
              </a:rPr>
              <a:t>Thank You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707</TotalTime>
  <Words>971</Words>
  <Application>Microsoft Office PowerPoint</Application>
  <PresentationFormat>On-screen Show (4:3)</PresentationFormat>
  <Paragraphs>78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Calisto MT</vt:lpstr>
      <vt:lpstr>Wingdings 2</vt:lpstr>
      <vt:lpstr>Slate</vt:lpstr>
      <vt:lpstr>E-Commerce Data Analysis using Power BI</vt:lpstr>
      <vt:lpstr>Project Overview</vt:lpstr>
      <vt:lpstr>Dataset Overview</vt:lpstr>
      <vt:lpstr>Tools &amp; Technologies</vt:lpstr>
      <vt:lpstr>Key KPIs</vt:lpstr>
      <vt:lpstr>Product Analysis</vt:lpstr>
      <vt:lpstr>Customer Churn Analysis</vt:lpstr>
      <vt:lpstr>Customer Segmentation</vt:lpstr>
      <vt:lpstr>Seller Performance</vt:lpstr>
      <vt:lpstr>Delivery Delay Analysis</vt:lpstr>
      <vt:lpstr>Dashboard Overview</vt:lpstr>
      <vt:lpstr>PowerPoint Presentation</vt:lpstr>
      <vt:lpstr>PowerPoint Presentation</vt:lpstr>
      <vt:lpstr>PowerPoint Presentation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Alok Yadav</cp:lastModifiedBy>
  <cp:revision>15</cp:revision>
  <dcterms:created xsi:type="dcterms:W3CDTF">2013-01-27T09:14:16Z</dcterms:created>
  <dcterms:modified xsi:type="dcterms:W3CDTF">2026-04-18T18:02:27Z</dcterms:modified>
  <cp:category/>
</cp:coreProperties>
</file>